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seconds. Name, one line on what it is, move on. The deck is not the pitch - the demo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50 seconds. Do not read the four points - land the last one: the problem is verification, not paperwork. That is why a PDF pass or a Google Form would not have solved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70 seconds. The four cards are a glance. Spend the time on the bar at the bottom - bulk onboarding is the thing no one else will have built, and it is the first thing to show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this slide. It exists for Q&amp;A - when someone asks why six services, or what happens when one is down, put it up and answer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slide, and the one to leave on screen during Q&amp;A. The future-scope column is what they will push on - offline scanning and face match are the two with real engineering behind them, so lead with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675120" y="502920"/>
            <a:ext cx="5669280" cy="5669280"/>
          </a:xfrm>
          <a:prstGeom prst="ellipse">
            <a:avLst/>
          </a:prstGeom>
          <a:solidFill>
            <a:srgbClr val="3B1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60920" y="1234440"/>
            <a:ext cx="4297680" cy="429768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82127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444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66759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09076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51392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36024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8340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62972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05288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47604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19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32236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2127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51392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78340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62972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32236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82127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59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09076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6024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0655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62972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7604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19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32236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82127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59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09076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51392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62972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547604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789919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032236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82127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66759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09076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51392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6024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78340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62972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547604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789919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032236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82127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51392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36024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62972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032236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82127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24444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66759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609076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851392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36024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20655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62972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305288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547604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789919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032236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93708" y="3479291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36024" y="3479291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820655" y="3479291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82127" y="372160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66759" y="372160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609076" y="372160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93708" y="372160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78340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820655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305288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547604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032236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124444" y="396392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851392" y="396392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36024" y="396392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78340" y="3963924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62972" y="3963924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789919" y="3963924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82127" y="420624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124444" y="420624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609076" y="420624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851392" y="420624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820655" y="4206240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305288" y="4206240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47604" y="4206240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032236" y="4206240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93708" y="444855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578340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62972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305288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789919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032236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882127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124444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66759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09076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851392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336024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820655" y="4690872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062972" y="4690872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547604" y="4690872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32236" y="4690872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882127" y="493318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851392" y="493318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36024" y="493318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78340" y="493318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305288" y="493318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547604" y="493318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789919" y="493318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8680" y="196596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mbria"/>
              </a:rPr>
              <a:t>PERIMITY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8680" y="3035808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EDE9FE"/>
                </a:solidFill>
                <a:latin typeface="Calibri"/>
              </a:rPr>
              <a:t>Smart Campus Access &amp;
Gate Pass Management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8680" y="4370832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78BFA"/>
                </a:solidFill>
                <a:latin typeface="Calibri"/>
              </a:rPr>
              <a:t>Digital gate passes, verified in seconds.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68680" y="5440680"/>
            <a:ext cx="7406640" cy="960120"/>
          </a:xfrm>
          <a:prstGeom prst="roundRect">
            <a:avLst>
              <a:gd name="adj" fmla="val 10000"/>
            </a:avLst>
          </a:prstGeom>
          <a:solidFill>
            <a:srgbClr val="3B1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34440" y="563270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Sanjay Verma  ·  Palash Shende  ·  Omkar Velonde  ·  Mukul Sharma  ·  Tushar Shinde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C4B5FD"/>
                </a:solidFill>
                <a:latin typeface="Calibri"/>
              </a:rPr>
              <a:t>Team lead: Sanjay Verma      C-DAC  ·  Final Evaluation, August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E1065"/>
                </a:solidFill>
                <a:latin typeface="Cambria"/>
              </a:rPr>
              <a:t>A gate pass is still a piece of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Campus entry runs on handwriting and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93976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14884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It cannot be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47802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 paper pass can be copied, lent or forged, and nobody at the gate can tell.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4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17296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Approval is a phone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5021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 visitor arrives, a guard rings a department, someone vouches, a name goes in a register.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42232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419709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Nothing is searchable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45262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Who was on campus last Tuesday at three? The answer is in a book, if it was written 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522122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Onboarding is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555040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 new cohort means typing hundreds of forms by hand, one account at a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148840"/>
            <a:ext cx="4434840" cy="3794760"/>
          </a:xfrm>
          <a:prstGeom prst="roundRect">
            <a:avLst>
              <a:gd name="adj" fmla="val 5000"/>
            </a:avLst>
          </a:prstGeom>
          <a:solidFill>
            <a:srgbClr val="2E1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697480"/>
            <a:ext cx="50292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94436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78BFA"/>
                </a:solidFill>
                <a:latin typeface="Calibri"/>
              </a:rPr>
              <a:t>Every one of these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346704"/>
            <a:ext cx="34747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mbria"/>
              </a:rPr>
              <a:t>is a checking
problem, not a
paper problem.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7492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B5FD"/>
                </a:solidFill>
                <a:latin typeface="Calibri"/>
              </a:rPr>
              <a:t>Digitising the form changes nothing.
The gate still cannot verify anyone.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0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20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E1065"/>
                </a:solidFill>
                <a:latin typeface="Cambria"/>
              </a:rPr>
              <a:t>One system, four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An encrypted QR that a guard can trust in under a 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0432" y="24048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3020" y="248259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52728" y="2638044"/>
            <a:ext cx="237744" cy="1325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7088" y="233172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Student &amp; Faculty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715768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Verified profile, photo on file, a standing pass on their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9672" y="2404872"/>
            <a:ext cx="402336" cy="402336"/>
          </a:xfrm>
          <a:prstGeom prst="ellipse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29400" y="2468879"/>
            <a:ext cx="182880" cy="274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52844" y="2587751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6328" y="233172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Visitor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715768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Applies online, faculty approves, pass arrives by email before they travel.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0332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0432" y="4142231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61872" y="4224528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99032" y="4224528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61872" y="4361688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99032" y="4361688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47088" y="406908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4453128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Scans at the gate. One-second verdict, with the holder's photo to check the face.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0332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9672" y="4142231"/>
            <a:ext cx="402336" cy="402336"/>
          </a:xfrm>
          <a:prstGeom prst="ellipse">
            <a:avLst/>
          </a:prstGeom>
          <a:solidFill>
            <a:srgbClr val="59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01968" y="4224528"/>
            <a:ext cx="237744" cy="45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4320540"/>
            <a:ext cx="237744" cy="45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01968" y="4416552"/>
            <a:ext cx="237744" cy="45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6328" y="406908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Administration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4453128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Every scan recorded and searchable. Entry-only by design - no exit scan to forget.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440680"/>
            <a:ext cx="10515600" cy="1051560"/>
          </a:xfrm>
          <a:prstGeom prst="roundRect">
            <a:avLst>
              <a:gd name="adj" fmla="val 9000"/>
            </a:avLst>
          </a:prstGeom>
          <a:solidFill>
            <a:srgbClr val="2E1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25880" y="5687568"/>
            <a:ext cx="5029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566928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DE68A"/>
                </a:solidFill>
                <a:latin typeface="Calibri"/>
              </a:rPr>
              <a:t>A whole cohort, from one upload.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>
                <a:solidFill>
                  <a:srgbClr val="C4B5FD"/>
                </a:solidFill>
                <a:latin typeface="Calibri"/>
              </a:rPr>
              <a:t>Students fill in a form. Faculty upload the responses: accounts created, details verified, photos pulled, passes issued and emails sent.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20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20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E1065"/>
                </a:solidFill>
                <a:latin typeface="Cambria"/>
              </a:rPr>
              <a:t>Six services, one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Spring Boot microservices, a database each, talking over REST and a message queue.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Accounts,
JWT, OTP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70632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Profiles,
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5424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Gate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Passes,
visitors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0216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QR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AES-256
tokens, PDFs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65007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7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Campus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7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Gates,
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19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9799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799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799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Scanning,
entry 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858768"/>
            <a:ext cx="10515600" cy="640080"/>
          </a:xfrm>
          <a:prstGeom prst="roundRect">
            <a:avLst>
              <a:gd name="adj" fmla="val 14000"/>
            </a:avLst>
          </a:prstGeom>
          <a:solidFill>
            <a:srgbClr val="2E1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059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PostgreSQL  ·  MongoDB  ·  RabbitMQ  ·  Redis  ·  Eureka  ·  Docker  ·  React + TypeScript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846320"/>
            <a:ext cx="20116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0474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1065"/>
                </a:solidFill>
                <a:latin typeface="Calibri"/>
              </a:rPr>
              <a:t>Entry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13248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The system records arrivals. No exit scan means no half-open record when someone forgets.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53128" y="4846320"/>
            <a:ext cx="20116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50474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1065"/>
                </a:solidFill>
                <a:latin typeface="Calibri"/>
              </a:rPr>
              <a:t>A pass is a 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5413248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AES-256 encrypted, tied to one holder. A screenshot is useless once the pass is revoked.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3296" y="4846320"/>
            <a:ext cx="20116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50474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1065"/>
                </a:solidFill>
                <a:latin typeface="Calibri"/>
              </a:rPr>
              <a:t>Database per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5413248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No service reads another's tables. They ask over REST, so one can fail without taking the gate down.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20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2423160"/>
            <a:ext cx="4114800" cy="4114800"/>
          </a:xfrm>
          <a:prstGeom prst="ellipse">
            <a:avLst/>
          </a:prstGeom>
          <a:solidFill>
            <a:srgbClr val="3B1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Working today,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WORKING TODAY</a:t>
            </a:r>
          </a:p>
        </p:txBody>
      </p:sp>
      <p:sp>
        <p:nvSpPr>
          <p:cNvPr id="6" name="Oval 5"/>
          <p:cNvSpPr/>
          <p:nvPr/>
        </p:nvSpPr>
        <p:spPr>
          <a:xfrm>
            <a:off x="850392" y="2130551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8483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Bulk onboarding end to end: form to account to pass to email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2843783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98063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Encrypted QR passes, issued and delivered as PDF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3557015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1129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Faculty approval for visitors, with email at every step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42702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2452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Guard scanning with the holder's photo on screen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4983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9377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Entry log, searchable and paged, for every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WHAT COMES NEXT</a:t>
            </a:r>
          </a:p>
        </p:txBody>
      </p:sp>
      <p:sp>
        <p:nvSpPr>
          <p:cNvPr id="17" name="Oval 16"/>
          <p:cNvSpPr/>
          <p:nvPr/>
        </p:nvSpPr>
        <p:spPr>
          <a:xfrm>
            <a:off x="6428232" y="2130551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08483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Offline scanning, for when the gate loses network</a:t>
            </a:r>
          </a:p>
        </p:txBody>
      </p:sp>
      <p:sp>
        <p:nvSpPr>
          <p:cNvPr id="19" name="Oval 18"/>
          <p:cNvSpPr/>
          <p:nvPr/>
        </p:nvSpPr>
        <p:spPr>
          <a:xfrm>
            <a:off x="6428232" y="2843783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798063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Face match against the stored photo at the moment of entry</a:t>
            </a:r>
          </a:p>
        </p:txBody>
      </p:sp>
      <p:sp>
        <p:nvSpPr>
          <p:cNvPr id="21" name="Oval 20"/>
          <p:cNvSpPr/>
          <p:nvPr/>
        </p:nvSpPr>
        <p:spPr>
          <a:xfrm>
            <a:off x="6428232" y="3557015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51129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Multi-campus: already in the data model, not yet in the UI</a:t>
            </a:r>
          </a:p>
        </p:txBody>
      </p:sp>
      <p:sp>
        <p:nvSpPr>
          <p:cNvPr id="23" name="Oval 22"/>
          <p:cNvSpPr/>
          <p:nvPr/>
        </p:nvSpPr>
        <p:spPr>
          <a:xfrm>
            <a:off x="6428232" y="4270248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22452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A native guard app instead of a browser</a:t>
            </a:r>
          </a:p>
        </p:txBody>
      </p:sp>
      <p:sp>
        <p:nvSpPr>
          <p:cNvPr id="25" name="Oval 24"/>
          <p:cNvSpPr/>
          <p:nvPr/>
        </p:nvSpPr>
        <p:spPr>
          <a:xfrm>
            <a:off x="6428232" y="4983480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9377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Single sign-on with the college identity provider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B5FD"/>
                </a:solidFill>
                <a:latin typeface="Calibri"/>
              </a:rPr>
              <a:t>Built to work at any campus - no institution, department or email domain is written into the code.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2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20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