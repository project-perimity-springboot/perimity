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Ten seconds. Name, one line on what it is, move on. The deck is not the pitch - the demo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About 50 seconds. Do not read the four points - land the last one: the problem is verification, not paperwork. That is why a PDF pass or a Google Form would not have solved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About 70 seconds. The four cards are a glance. Spend the time on the bar at the bottom - bulk onboarding is the thing no one else will have built, and it is the first thing to show in the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present this slide. It exists for Q&amp;A - when someone asks why six services, or what happens when one is down, put it up and answer from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slide, and the one to leave on screen during Q&amp;A. The future-scope column is what they will push on - offline scanning and face match are the two with real engineering behind them, so lead with those.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1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818120" y="1874519"/>
            <a:ext cx="212323" cy="2123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65008" y="1874519"/>
            <a:ext cx="212323" cy="2123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311896" y="1874519"/>
            <a:ext cx="212323" cy="2123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58784" y="1874519"/>
            <a:ext cx="212323" cy="2123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805672" y="1874519"/>
            <a:ext cx="212323" cy="2123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299448" y="1874519"/>
            <a:ext cx="212323" cy="2123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546336" y="1874519"/>
            <a:ext cx="212323" cy="2123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40112" y="1874519"/>
            <a:ext cx="212323" cy="2123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287000" y="1874519"/>
            <a:ext cx="212323" cy="2123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533888" y="1874519"/>
            <a:ext cx="212323" cy="2123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780776" y="1874519"/>
            <a:ext cx="212323" cy="2123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027664" y="1874519"/>
            <a:ext cx="212323" cy="2123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18120" y="2121408"/>
            <a:ext cx="212323" cy="2123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05672" y="2121408"/>
            <a:ext cx="212323" cy="2123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546336" y="2121408"/>
            <a:ext cx="212323" cy="2123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040112" y="2121408"/>
            <a:ext cx="212323" cy="2123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027664" y="2121408"/>
            <a:ext cx="212323" cy="2123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18120" y="2368296"/>
            <a:ext cx="212323" cy="2123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11896" y="2368296"/>
            <a:ext cx="212323" cy="2123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558784" y="2368296"/>
            <a:ext cx="212323" cy="2123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05672" y="2368296"/>
            <a:ext cx="212323" cy="2123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299448" y="2368296"/>
            <a:ext cx="212323" cy="2123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793224" y="2368296"/>
            <a:ext cx="212323" cy="2123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040112" y="2368296"/>
            <a:ext cx="212323" cy="2123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533888" y="2368296"/>
            <a:ext cx="212323" cy="2123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780776" y="2368296"/>
            <a:ext cx="212323" cy="2123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027664" y="2368296"/>
            <a:ext cx="212323" cy="2123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818120" y="2615184"/>
            <a:ext cx="212323" cy="2123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311896" y="2615184"/>
            <a:ext cx="212323" cy="2123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58784" y="2615184"/>
            <a:ext cx="212323" cy="2123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05672" y="2615184"/>
            <a:ext cx="212323" cy="2123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40112" y="2615184"/>
            <a:ext cx="212323" cy="2123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533888" y="2615184"/>
            <a:ext cx="212323" cy="2123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780776" y="2615184"/>
            <a:ext cx="212323" cy="2123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1027664" y="2615184"/>
            <a:ext cx="212323" cy="2123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818120" y="2862072"/>
            <a:ext cx="212323" cy="2123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311896" y="2862072"/>
            <a:ext cx="212323" cy="2123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58784" y="2862072"/>
            <a:ext cx="212323" cy="2123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805672" y="2862072"/>
            <a:ext cx="212323" cy="2123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299448" y="2862072"/>
            <a:ext cx="212323" cy="2123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546336" y="2862072"/>
            <a:ext cx="212323" cy="2123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040112" y="2862072"/>
            <a:ext cx="212323" cy="2123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533888" y="2862072"/>
            <a:ext cx="212323" cy="2123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780776" y="2862072"/>
            <a:ext cx="212323" cy="2123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1027664" y="2862072"/>
            <a:ext cx="212323" cy="2123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818120" y="3108960"/>
            <a:ext cx="212323" cy="2123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805672" y="3108960"/>
            <a:ext cx="212323" cy="2123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299448" y="3108960"/>
            <a:ext cx="212323" cy="2123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040112" y="3108960"/>
            <a:ext cx="212323" cy="2123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1027664" y="3108960"/>
            <a:ext cx="212323" cy="2123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818120" y="3355848"/>
            <a:ext cx="212323" cy="2123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065008" y="3355848"/>
            <a:ext cx="212323" cy="2123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311896" y="3355848"/>
            <a:ext cx="212323" cy="2123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558784" y="3355848"/>
            <a:ext cx="212323" cy="2123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805672" y="3355848"/>
            <a:ext cx="212323" cy="2123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299448" y="3355848"/>
            <a:ext cx="212323" cy="2123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793224" y="3355848"/>
            <a:ext cx="212323" cy="2123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0040112" y="3355848"/>
            <a:ext cx="212323" cy="2123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0287000" y="3355848"/>
            <a:ext cx="212323" cy="2123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0533888" y="3355848"/>
            <a:ext cx="212323" cy="2123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780776" y="3355848"/>
            <a:ext cx="212323" cy="2123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1027664" y="3355848"/>
            <a:ext cx="212323" cy="2123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052560" y="3602736"/>
            <a:ext cx="212323" cy="2123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299448" y="3602736"/>
            <a:ext cx="212323" cy="2123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793224" y="3602736"/>
            <a:ext cx="212323" cy="212323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818120" y="3849624"/>
            <a:ext cx="212323" cy="2123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311896" y="3849624"/>
            <a:ext cx="212323" cy="2123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558784" y="3849624"/>
            <a:ext cx="212323" cy="2123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052560" y="3849624"/>
            <a:ext cx="212323" cy="2123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9546336" y="3849624"/>
            <a:ext cx="212323" cy="212323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793224" y="3849624"/>
            <a:ext cx="212323" cy="212323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0287000" y="3849624"/>
            <a:ext cx="212323" cy="212323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0533888" y="3849624"/>
            <a:ext cx="212323" cy="212323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1027664" y="3849624"/>
            <a:ext cx="212323" cy="212323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065008" y="4096512"/>
            <a:ext cx="212323" cy="2123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805672" y="4096512"/>
            <a:ext cx="212323" cy="2123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9299448" y="4096512"/>
            <a:ext cx="212323" cy="2123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546336" y="4096512"/>
            <a:ext cx="212323" cy="212323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0040112" y="4096512"/>
            <a:ext cx="212323" cy="212323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0780776" y="4096512"/>
            <a:ext cx="212323" cy="212323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818120" y="4343400"/>
            <a:ext cx="212323" cy="2123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8065008" y="4343400"/>
            <a:ext cx="212323" cy="2123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8558784" y="4343400"/>
            <a:ext cx="212323" cy="2123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8805672" y="4343400"/>
            <a:ext cx="212323" cy="2123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793224" y="4343400"/>
            <a:ext cx="212323" cy="212323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0287000" y="4343400"/>
            <a:ext cx="212323" cy="212323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0533888" y="4343400"/>
            <a:ext cx="212323" cy="212323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1027664" y="4343400"/>
            <a:ext cx="212323" cy="212323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9052560" y="4590288"/>
            <a:ext cx="212323" cy="2123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9546336" y="4590288"/>
            <a:ext cx="212323" cy="212323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0040112" y="4590288"/>
            <a:ext cx="212323" cy="212323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0287000" y="4590288"/>
            <a:ext cx="212323" cy="212323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0780776" y="4590288"/>
            <a:ext cx="212323" cy="212323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1027664" y="4590288"/>
            <a:ext cx="212323" cy="212323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818120" y="4837176"/>
            <a:ext cx="212323" cy="2123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065008" y="4837176"/>
            <a:ext cx="212323" cy="2123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311896" y="4837176"/>
            <a:ext cx="212323" cy="2123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558784" y="4837176"/>
            <a:ext cx="212323" cy="2123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805672" y="4837176"/>
            <a:ext cx="212323" cy="2123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299448" y="4837176"/>
            <a:ext cx="212323" cy="2123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793224" y="4837176"/>
            <a:ext cx="212323" cy="212323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0040112" y="4837176"/>
            <a:ext cx="212323" cy="212323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0533888" y="4837176"/>
            <a:ext cx="212323" cy="212323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1027664" y="4837176"/>
            <a:ext cx="212323" cy="212323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7818120" y="5084064"/>
            <a:ext cx="212323" cy="2123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8805672" y="5084064"/>
            <a:ext cx="212323" cy="2123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299448" y="5084064"/>
            <a:ext cx="212323" cy="2123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546336" y="5084064"/>
            <a:ext cx="212323" cy="212323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0287000" y="5084064"/>
            <a:ext cx="212323" cy="212323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0533888" y="5084064"/>
            <a:ext cx="212323" cy="212323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0780776" y="5084064"/>
            <a:ext cx="212323" cy="212323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68680" y="2057400"/>
            <a:ext cx="65836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FFFFFF"/>
                </a:solidFill>
                <a:latin typeface="Cambria"/>
              </a:rPr>
              <a:t>PERIMITY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68680" y="3063240"/>
            <a:ext cx="65836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300" b="0">
                <a:solidFill>
                  <a:srgbClr val="EDE9FE"/>
                </a:solidFill>
                <a:latin typeface="Calibri"/>
              </a:rPr>
              <a:t>Smart Campus Access &amp;
Gate Pass Management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68680" y="4343400"/>
            <a:ext cx="6583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78BFA"/>
                </a:solidFill>
                <a:latin typeface="Calibri"/>
              </a:rPr>
              <a:t>Digital gate passes, verified in seconds.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68680" y="5623560"/>
            <a:ext cx="10424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Sanjay Verma  ·  Palash Shende  ·  Omkar Velonde  ·  Mukul Sharma</a:t>
            </a:r>
          </a:p>
          <a:p>
            <a:pPr algn="l">
              <a:spcBef>
                <a:spcPts val="400"/>
              </a:spcBef>
            </a:pPr>
            <a:r>
              <a:rPr sz="1150" b="0">
                <a:solidFill>
                  <a:srgbClr val="A78BFA"/>
                </a:solidFill>
                <a:latin typeface="Calibri"/>
              </a:rPr>
              <a:t>Team lead: Sanjay Verma</a:t>
            </a:r>
          </a:p>
          <a:p>
            <a:pPr algn="l">
              <a:spcBef>
                <a:spcPts val="400"/>
              </a:spcBef>
            </a:pPr>
            <a:r>
              <a:rPr sz="1150" b="0">
                <a:solidFill>
                  <a:srgbClr val="C4B5FD"/>
                </a:solidFill>
                <a:latin typeface="Calibri"/>
              </a:rPr>
              <a:t>[Institution]  ·  Final Evaluation,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>
                <a:solidFill>
                  <a:srgbClr val="2E1065"/>
                </a:solidFill>
                <a:latin typeface="Cambria"/>
              </a:rPr>
              <a:t>A gate pass is still a piece of paper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Calibri"/>
              </a:rPr>
              <a:t>Campus entry runs on handwriting and trust.</a:t>
            </a:r>
          </a:p>
        </p:txBody>
      </p:sp>
      <p:sp>
        <p:nvSpPr>
          <p:cNvPr id="5" name="Oval 4"/>
          <p:cNvSpPr/>
          <p:nvPr/>
        </p:nvSpPr>
        <p:spPr>
          <a:xfrm>
            <a:off x="850392" y="2212848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48840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E1B4B"/>
                </a:solidFill>
                <a:latin typeface="Calibri"/>
              </a:rPr>
              <a:t>It cannot be verified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478024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B7280"/>
                </a:solidFill>
                <a:latin typeface="Calibri"/>
              </a:rPr>
              <a:t>A paper pass can be copied, lent or forged, and nobody at the gate can tell.</a:t>
            </a:r>
          </a:p>
        </p:txBody>
      </p:sp>
      <p:sp>
        <p:nvSpPr>
          <p:cNvPr id="8" name="Oval 7"/>
          <p:cNvSpPr/>
          <p:nvPr/>
        </p:nvSpPr>
        <p:spPr>
          <a:xfrm>
            <a:off x="850392" y="3236976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3172968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E1B4B"/>
                </a:solidFill>
                <a:latin typeface="Calibri"/>
              </a:rPr>
              <a:t>Approval is a phone call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502152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B7280"/>
                </a:solidFill>
                <a:latin typeface="Calibri"/>
              </a:rPr>
              <a:t>A visitor arrives, a guard rings a department, someone vouches, a name goes in a register.</a:t>
            </a:r>
          </a:p>
        </p:txBody>
      </p:sp>
      <p:sp>
        <p:nvSpPr>
          <p:cNvPr id="11" name="Oval 10"/>
          <p:cNvSpPr/>
          <p:nvPr/>
        </p:nvSpPr>
        <p:spPr>
          <a:xfrm>
            <a:off x="850392" y="4261104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4197096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E1B4B"/>
                </a:solidFill>
                <a:latin typeface="Calibri"/>
              </a:rPr>
              <a:t>Nothing is searchable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526280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B7280"/>
                </a:solidFill>
                <a:latin typeface="Calibri"/>
              </a:rPr>
              <a:t>Who was on campus last Tuesday at three? The answer is in a book, if it was written down.</a:t>
            </a:r>
          </a:p>
        </p:txBody>
      </p:sp>
      <p:sp>
        <p:nvSpPr>
          <p:cNvPr id="14" name="Oval 13"/>
          <p:cNvSpPr/>
          <p:nvPr/>
        </p:nvSpPr>
        <p:spPr>
          <a:xfrm>
            <a:off x="850392" y="5285232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5221224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E1B4B"/>
                </a:solidFill>
                <a:latin typeface="Calibri"/>
              </a:rPr>
              <a:t>Onboarding is manual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5550408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B7280"/>
                </a:solidFill>
                <a:latin typeface="Calibri"/>
              </a:rPr>
              <a:t>A new cohort means typing hundreds of forms by hand, one account at a time.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03720" y="2148840"/>
            <a:ext cx="4434840" cy="3794760"/>
          </a:xfrm>
          <a:prstGeom prst="roundRect">
            <a:avLst>
              <a:gd name="adj" fmla="val 5000"/>
            </a:avLst>
          </a:prstGeom>
          <a:solidFill>
            <a:srgbClr val="2E1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52360" y="2697480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78BFA"/>
                </a:solidFill>
                <a:latin typeface="Calibri"/>
              </a:rPr>
              <a:t>Every one of these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3108960"/>
            <a:ext cx="34290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FFFFFF"/>
                </a:solidFill>
                <a:latin typeface="Cambria"/>
              </a:rPr>
              <a:t>is a checking
problem, not a
paper problem.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4892040"/>
            <a:ext cx="3337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C4B5FD"/>
                </a:solidFill>
                <a:latin typeface="Calibri"/>
              </a:rPr>
              <a:t>Digitising the form changes nothing.
The gate still cannot verify anyone.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>
                <a:solidFill>
                  <a:srgbClr val="2E1065"/>
                </a:solidFill>
                <a:latin typeface="Cambria"/>
              </a:rPr>
              <a:t>One system, four people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Calibri"/>
              </a:rPr>
              <a:t>An encrypted QR that a guard can trust in under a second.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5166360" cy="1572768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12700">
            <a:solidFill>
              <a:srgbClr val="EDE9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07008" y="2441448"/>
            <a:ext cx="310896" cy="310896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83080" y="233172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2E1065"/>
                </a:solidFill>
                <a:latin typeface="Calibri"/>
              </a:rPr>
              <a:t>Student &amp; Faculty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2715768"/>
            <a:ext cx="3840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B7280"/>
                </a:solidFill>
                <a:latin typeface="Calibri"/>
              </a:rPr>
              <a:t>Verified profile, photo on file, a standing pass on their phone.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965960"/>
            <a:ext cx="5166360" cy="1572768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12700">
            <a:solidFill>
              <a:srgbClr val="EDE9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56248" y="2441448"/>
            <a:ext cx="310896" cy="310896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0" y="233172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2E1065"/>
                </a:solidFill>
                <a:latin typeface="Calibri"/>
              </a:rPr>
              <a:t>Visitor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715768"/>
            <a:ext cx="3840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B7280"/>
                </a:solidFill>
                <a:latin typeface="Calibri"/>
              </a:rPr>
              <a:t>Applies online, faculty approves, pass arrives by email before they travel.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703320"/>
            <a:ext cx="5166360" cy="1572768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12700">
            <a:solidFill>
              <a:srgbClr val="EDE9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07008" y="4178808"/>
            <a:ext cx="310896" cy="310896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83080" y="406908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2E1065"/>
                </a:solidFill>
                <a:latin typeface="Calibri"/>
              </a:rPr>
              <a:t>Guard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453128"/>
            <a:ext cx="3840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B7280"/>
                </a:solidFill>
                <a:latin typeface="Calibri"/>
              </a:rPr>
              <a:t>Scans at the gate. One-second verdict, with the holder's photo to check the face.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703320"/>
            <a:ext cx="5166360" cy="1572768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12700">
            <a:solidFill>
              <a:srgbClr val="EDE9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56248" y="4178808"/>
            <a:ext cx="310896" cy="310896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0" y="406908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2E1065"/>
                </a:solidFill>
                <a:latin typeface="Calibri"/>
              </a:rPr>
              <a:t>Administration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4453128"/>
            <a:ext cx="3840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B7280"/>
                </a:solidFill>
                <a:latin typeface="Calibri"/>
              </a:rPr>
              <a:t>Every scan recorded and searchable. Entry-only, by design - no exit scan to forget.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5440680"/>
            <a:ext cx="10515600" cy="1051560"/>
          </a:xfrm>
          <a:prstGeom prst="roundRect">
            <a:avLst>
              <a:gd name="adj" fmla="val 9000"/>
            </a:avLst>
          </a:prstGeom>
          <a:solidFill>
            <a:srgbClr val="2E1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25880" y="5669280"/>
            <a:ext cx="9509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Calibri"/>
              </a:rPr>
              <a:t>A whole cohort, from one upload.</a:t>
            </a:r>
          </a:p>
          <a:p>
            <a:pPr algn="l">
              <a:lnSpc>
                <a:spcPct val="115000"/>
              </a:lnSpc>
              <a:spcBef>
                <a:spcPts val="500"/>
              </a:spcBef>
            </a:pPr>
            <a:r>
              <a:rPr sz="1250" b="0">
                <a:solidFill>
                  <a:srgbClr val="C4B5FD"/>
                </a:solidFill>
                <a:latin typeface="Calibri"/>
              </a:rPr>
              <a:t>Students fill in a form. Faculty upload the responses: accounts created, details verified, photos pulled, passes issued and emails sent.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>
                <a:solidFill>
                  <a:srgbClr val="2E1065"/>
                </a:solidFill>
                <a:latin typeface="Cambria"/>
              </a:rPr>
              <a:t>Six services, one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Calibri"/>
              </a:rPr>
              <a:t>Spring Boot microservices, a database each, talking over REST and a message queue.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1636776" cy="164592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 w="12700">
            <a:solidFill>
              <a:srgbClr val="EDE9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C1D95"/>
                </a:solidFill>
                <a:latin typeface="Calibri"/>
              </a:rPr>
              <a:t>Auth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97480"/>
            <a:ext cx="1325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Accounts,
JWT, OTP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87752" y="1965960"/>
            <a:ext cx="1636776" cy="164592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 w="12700">
            <a:solidFill>
              <a:srgbClr val="EDE9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70632" y="22860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C1D95"/>
                </a:solidFill>
                <a:latin typeface="Calibri"/>
              </a:rPr>
              <a:t>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70632" y="2697480"/>
            <a:ext cx="1325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Profiles,
verification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2544" y="1965960"/>
            <a:ext cx="1636776" cy="164592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 w="12700">
            <a:solidFill>
              <a:srgbClr val="EDE9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35424" y="22860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C1D95"/>
                </a:solidFill>
                <a:latin typeface="Calibri"/>
              </a:rPr>
              <a:t>Gate Pass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5424" y="2697480"/>
            <a:ext cx="1325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Passes,
visitors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17336" y="1965960"/>
            <a:ext cx="1636776" cy="164592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 w="12700">
            <a:solidFill>
              <a:srgbClr val="EDE9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0216" y="22860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C1D95"/>
                </a:solidFill>
                <a:latin typeface="Calibri"/>
              </a:rPr>
              <a:t>QR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0216" y="2697480"/>
            <a:ext cx="1325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AES-256
tokens, PDFs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82127" y="1965960"/>
            <a:ext cx="1636776" cy="164592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 w="12700">
            <a:solidFill>
              <a:srgbClr val="EDE9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65007" y="22860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C1D95"/>
                </a:solidFill>
                <a:latin typeface="Calibri"/>
              </a:rPr>
              <a:t>Campus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65007" y="2697480"/>
            <a:ext cx="1325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Gates,
policy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46919" y="1965960"/>
            <a:ext cx="1636776" cy="164592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 w="12700">
            <a:solidFill>
              <a:srgbClr val="EDE9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29799" y="22860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C1D95"/>
                </a:solidFill>
                <a:latin typeface="Calibri"/>
              </a:rPr>
              <a:t>Guard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29799" y="2697480"/>
            <a:ext cx="1325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Scanning,
entry log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3858768"/>
            <a:ext cx="10515600" cy="640080"/>
          </a:xfrm>
          <a:prstGeom prst="roundRect">
            <a:avLst>
              <a:gd name="adj" fmla="val 14000"/>
            </a:avLst>
          </a:prstGeom>
          <a:solidFill>
            <a:srgbClr val="2E1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34440" y="4059936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Calibri"/>
              </a:rPr>
              <a:t>PostgreSQL  ·  MongoDB  ·  RabbitMQ  ·  Redis  ·  Eureka  ·  Docker  ·  React + TypeScript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80060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E1065"/>
                </a:solidFill>
                <a:latin typeface="Calibri"/>
              </a:rPr>
              <a:t>Entry only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175504"/>
            <a:ext cx="32461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280"/>
                </a:solidFill>
                <a:latin typeface="Calibri"/>
              </a:rPr>
              <a:t>The system records arrivals. No exit scan means no half-open record when someone forgets.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53128" y="480060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E1065"/>
                </a:solidFill>
                <a:latin typeface="Calibri"/>
              </a:rPr>
              <a:t>A pass is a token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53128" y="5175504"/>
            <a:ext cx="32461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280"/>
                </a:solidFill>
                <a:latin typeface="Calibri"/>
              </a:rPr>
              <a:t>AES-256 encrypted, tied to one holder. A screenshot is useless once the pass is revoked.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83296" y="480060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E1065"/>
                </a:solidFill>
                <a:latin typeface="Calibri"/>
              </a:rPr>
              <a:t>Database per service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3296" y="5175504"/>
            <a:ext cx="32461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280"/>
                </a:solidFill>
                <a:latin typeface="Calibri"/>
              </a:rPr>
              <a:t>No service reads another's tables. They ask over REST, so one can fail without taking the gate down.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1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mbria"/>
              </a:rPr>
              <a:t>Working today, and what comes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72768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A78BFA"/>
                </a:solidFill>
                <a:latin typeface="Calibri"/>
              </a:rPr>
              <a:t>WORKING TODAY</a:t>
            </a:r>
          </a:p>
        </p:txBody>
      </p:sp>
      <p:sp>
        <p:nvSpPr>
          <p:cNvPr id="5" name="Oval 4"/>
          <p:cNvSpPr/>
          <p:nvPr/>
        </p:nvSpPr>
        <p:spPr>
          <a:xfrm>
            <a:off x="850392" y="2139696"/>
            <a:ext cx="118872" cy="118872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2084831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  <a:latin typeface="Calibri"/>
              </a:rPr>
              <a:t>Bulk onboarding end to end: form to account to pass to email</a:t>
            </a:r>
          </a:p>
        </p:txBody>
      </p:sp>
      <p:sp>
        <p:nvSpPr>
          <p:cNvPr id="7" name="Oval 6"/>
          <p:cNvSpPr/>
          <p:nvPr/>
        </p:nvSpPr>
        <p:spPr>
          <a:xfrm>
            <a:off x="850392" y="2852927"/>
            <a:ext cx="118872" cy="118872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0432" y="2798063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  <a:latin typeface="Calibri"/>
              </a:rPr>
              <a:t>Encrypted QR passes, issued and delivered as PDF</a:t>
            </a:r>
          </a:p>
        </p:txBody>
      </p:sp>
      <p:sp>
        <p:nvSpPr>
          <p:cNvPr id="9" name="Oval 8"/>
          <p:cNvSpPr/>
          <p:nvPr/>
        </p:nvSpPr>
        <p:spPr>
          <a:xfrm>
            <a:off x="850392" y="3566160"/>
            <a:ext cx="118872" cy="118872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3511296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  <a:latin typeface="Calibri"/>
              </a:rPr>
              <a:t>Faculty approval for visitors, with email at every step</a:t>
            </a:r>
          </a:p>
        </p:txBody>
      </p:sp>
      <p:sp>
        <p:nvSpPr>
          <p:cNvPr id="11" name="Oval 10"/>
          <p:cNvSpPr/>
          <p:nvPr/>
        </p:nvSpPr>
        <p:spPr>
          <a:xfrm>
            <a:off x="850392" y="4279392"/>
            <a:ext cx="118872" cy="118872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4224528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  <a:latin typeface="Calibri"/>
              </a:rPr>
              <a:t>Guard scanning with the holder's photo on screen</a:t>
            </a:r>
          </a:p>
        </p:txBody>
      </p:sp>
      <p:sp>
        <p:nvSpPr>
          <p:cNvPr id="13" name="Oval 12"/>
          <p:cNvSpPr/>
          <p:nvPr/>
        </p:nvSpPr>
        <p:spPr>
          <a:xfrm>
            <a:off x="850392" y="4992624"/>
            <a:ext cx="118872" cy="118872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493776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  <a:latin typeface="Calibri"/>
              </a:rPr>
              <a:t>Entry log, searchable and paged, for every scan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572768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A78BFA"/>
                </a:solidFill>
                <a:latin typeface="Calibri"/>
              </a:rPr>
              <a:t>WHAT COMES NEXT</a:t>
            </a:r>
          </a:p>
        </p:txBody>
      </p:sp>
      <p:sp>
        <p:nvSpPr>
          <p:cNvPr id="16" name="Oval 15"/>
          <p:cNvSpPr/>
          <p:nvPr/>
        </p:nvSpPr>
        <p:spPr>
          <a:xfrm>
            <a:off x="6428232" y="2139696"/>
            <a:ext cx="118872" cy="118872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48272" y="2084831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DE9FE"/>
                </a:solidFill>
                <a:latin typeface="Calibri"/>
              </a:rPr>
              <a:t>Offline scanning, for when the gate loses network</a:t>
            </a:r>
          </a:p>
        </p:txBody>
      </p:sp>
      <p:sp>
        <p:nvSpPr>
          <p:cNvPr id="18" name="Oval 17"/>
          <p:cNvSpPr/>
          <p:nvPr/>
        </p:nvSpPr>
        <p:spPr>
          <a:xfrm>
            <a:off x="6428232" y="2852927"/>
            <a:ext cx="118872" cy="118872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48272" y="2798063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DE9FE"/>
                </a:solidFill>
                <a:latin typeface="Calibri"/>
              </a:rPr>
              <a:t>Face match against the stored photo at the moment of entry</a:t>
            </a:r>
          </a:p>
        </p:txBody>
      </p:sp>
      <p:sp>
        <p:nvSpPr>
          <p:cNvPr id="20" name="Oval 19"/>
          <p:cNvSpPr/>
          <p:nvPr/>
        </p:nvSpPr>
        <p:spPr>
          <a:xfrm>
            <a:off x="6428232" y="3566160"/>
            <a:ext cx="118872" cy="118872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48272" y="3511296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DE9FE"/>
                </a:solidFill>
                <a:latin typeface="Calibri"/>
              </a:rPr>
              <a:t>Multi-campus: already in the data model, not yet in the UI</a:t>
            </a:r>
          </a:p>
        </p:txBody>
      </p:sp>
      <p:sp>
        <p:nvSpPr>
          <p:cNvPr id="22" name="Oval 21"/>
          <p:cNvSpPr/>
          <p:nvPr/>
        </p:nvSpPr>
        <p:spPr>
          <a:xfrm>
            <a:off x="6428232" y="4279392"/>
            <a:ext cx="118872" cy="118872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48272" y="4224528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DE9FE"/>
                </a:solidFill>
                <a:latin typeface="Calibri"/>
              </a:rPr>
              <a:t>A native guard app instead of a browser</a:t>
            </a:r>
          </a:p>
        </p:txBody>
      </p:sp>
      <p:sp>
        <p:nvSpPr>
          <p:cNvPr id="24" name="Oval 23"/>
          <p:cNvSpPr/>
          <p:nvPr/>
        </p:nvSpPr>
        <p:spPr>
          <a:xfrm>
            <a:off x="6428232" y="4992624"/>
            <a:ext cx="118872" cy="118872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48272" y="493776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DE9FE"/>
                </a:solidFill>
                <a:latin typeface="Calibri"/>
              </a:rPr>
              <a:t>Single sign-on with the college identity provider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6053328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C4B5FD"/>
                </a:solidFill>
                <a:latin typeface="Calibri"/>
              </a:rPr>
              <a:t>Built to work at any campus - no institution, department or email domain is written into the code.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