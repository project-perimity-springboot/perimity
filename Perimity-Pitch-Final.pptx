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Ten seconds. Name, one line on what it is, move on. The deck is not the pitch - the demo 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About 50 seconds. Do not read the four points - land the last one: the problem is verification, not paperwork. That is why a PDF pass or a Google Form would not have solved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About 70 seconds. The four cards are a glance. Spend the time on the bar at the bottom - bulk onboarding is the thing no one else will have built, and it is the first thing to show in the demo.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 not present this slide. It exists for Q&amp;A - when someone asks why six services, or what happens when one is down, put it up and answer from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Closing slide, and the one to leave on screen during Q&amp;A. The future-scope column is what they will push on - offline scanning and face match are the two with real engineering behind them, so lead with those.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E10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675120" y="502920"/>
            <a:ext cx="5669280" cy="5669280"/>
          </a:xfrm>
          <a:prstGeom prst="ellipse">
            <a:avLst/>
          </a:prstGeom>
          <a:solidFill>
            <a:srgbClr val="3B16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360920" y="1234440"/>
            <a:ext cx="4297680" cy="4297680"/>
          </a:xfrm>
          <a:prstGeom prst="ellipse">
            <a:avLst/>
          </a:prstGeom>
          <a:solidFill>
            <a:srgbClr val="2E10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882127" y="1783080"/>
            <a:ext cx="203545" cy="20354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124444" y="1783080"/>
            <a:ext cx="203545" cy="20354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366759" y="1783080"/>
            <a:ext cx="203545" cy="20354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609076" y="1783080"/>
            <a:ext cx="203545" cy="20354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851392" y="1783080"/>
            <a:ext cx="203545" cy="20354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336024" y="1783080"/>
            <a:ext cx="203545" cy="20354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578340" y="1783080"/>
            <a:ext cx="203545" cy="20354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062972" y="1783080"/>
            <a:ext cx="203545" cy="20354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305288" y="1783080"/>
            <a:ext cx="203545" cy="20354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547604" y="1783080"/>
            <a:ext cx="203545" cy="20354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789919" y="1783080"/>
            <a:ext cx="203545" cy="20354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1032236" y="1783080"/>
            <a:ext cx="203545" cy="20354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882127" y="2025395"/>
            <a:ext cx="203545" cy="20354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851392" y="2025395"/>
            <a:ext cx="203545" cy="20354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578340" y="2025395"/>
            <a:ext cx="203545" cy="20354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0062972" y="2025395"/>
            <a:ext cx="203545" cy="20354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1032236" y="2025395"/>
            <a:ext cx="203545" cy="20354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882127" y="2267712"/>
            <a:ext cx="203545" cy="20354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366759" y="2267712"/>
            <a:ext cx="203545" cy="20354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609076" y="2267712"/>
            <a:ext cx="203545" cy="20354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851392" y="2267712"/>
            <a:ext cx="203545" cy="20354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336024" y="2267712"/>
            <a:ext cx="203545" cy="20354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820655" y="2267712"/>
            <a:ext cx="203545" cy="20354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0062972" y="2267712"/>
            <a:ext cx="203545" cy="20354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0547604" y="2267712"/>
            <a:ext cx="203545" cy="20354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0789919" y="2267712"/>
            <a:ext cx="203545" cy="20354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1032236" y="2267712"/>
            <a:ext cx="203545" cy="20354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882127" y="2510028"/>
            <a:ext cx="203545" cy="20354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366759" y="2510028"/>
            <a:ext cx="203545" cy="20354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609076" y="2510028"/>
            <a:ext cx="203545" cy="20354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851392" y="2510028"/>
            <a:ext cx="203545" cy="20354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0062972" y="2510028"/>
            <a:ext cx="203545" cy="20354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0547604" y="2510028"/>
            <a:ext cx="203545" cy="20354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789919" y="2510028"/>
            <a:ext cx="203545" cy="20354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1032236" y="2510028"/>
            <a:ext cx="203545" cy="20354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7882127" y="2752344"/>
            <a:ext cx="203545" cy="20354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366759" y="2752344"/>
            <a:ext cx="203545" cy="20354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609076" y="2752344"/>
            <a:ext cx="203545" cy="20354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851392" y="2752344"/>
            <a:ext cx="203545" cy="20354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9336024" y="2752344"/>
            <a:ext cx="203545" cy="20354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9578340" y="2752344"/>
            <a:ext cx="203545" cy="20354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10062972" y="2752344"/>
            <a:ext cx="203545" cy="20354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10547604" y="2752344"/>
            <a:ext cx="203545" cy="20354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0789919" y="2752344"/>
            <a:ext cx="203545" cy="20354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11032236" y="2752344"/>
            <a:ext cx="203545" cy="20354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7882127" y="2994660"/>
            <a:ext cx="203545" cy="20354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8851392" y="2994660"/>
            <a:ext cx="203545" cy="20354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9336024" y="2994660"/>
            <a:ext cx="203545" cy="20354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10062972" y="2994660"/>
            <a:ext cx="203545" cy="20354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11032236" y="2994660"/>
            <a:ext cx="203545" cy="20354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882127" y="3236976"/>
            <a:ext cx="203545" cy="20354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8124444" y="3236976"/>
            <a:ext cx="203545" cy="20354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8366759" y="3236976"/>
            <a:ext cx="203545" cy="20354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8609076" y="3236976"/>
            <a:ext cx="203545" cy="20354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8851392" y="3236976"/>
            <a:ext cx="203545" cy="20354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9336024" y="3236976"/>
            <a:ext cx="203545" cy="20354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9820655" y="3236976"/>
            <a:ext cx="203545" cy="20354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10062972" y="3236976"/>
            <a:ext cx="203545" cy="20354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10305288" y="3236976"/>
            <a:ext cx="203545" cy="20354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10547604" y="3236976"/>
            <a:ext cx="203545" cy="20354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10789919" y="3236976"/>
            <a:ext cx="203545" cy="20354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11032236" y="3236976"/>
            <a:ext cx="203545" cy="20354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9093708" y="3479291"/>
            <a:ext cx="203545" cy="20354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9336024" y="3479291"/>
            <a:ext cx="203545" cy="20354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9820655" y="3479291"/>
            <a:ext cx="203545" cy="203545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7882127" y="3721608"/>
            <a:ext cx="203545" cy="20354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8366759" y="3721608"/>
            <a:ext cx="203545" cy="20354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8609076" y="3721608"/>
            <a:ext cx="203545" cy="20354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9093708" y="3721608"/>
            <a:ext cx="203545" cy="20354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9578340" y="3721608"/>
            <a:ext cx="203545" cy="203545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9820655" y="3721608"/>
            <a:ext cx="203545" cy="203545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10305288" y="3721608"/>
            <a:ext cx="203545" cy="203545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10547604" y="3721608"/>
            <a:ext cx="203545" cy="203545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11032236" y="3721608"/>
            <a:ext cx="203545" cy="203545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8124444" y="3963924"/>
            <a:ext cx="203545" cy="20354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8851392" y="3963924"/>
            <a:ext cx="203545" cy="20354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9336024" y="3963924"/>
            <a:ext cx="203545" cy="20354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9578340" y="3963924"/>
            <a:ext cx="203545" cy="203545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10062972" y="3963924"/>
            <a:ext cx="203545" cy="203545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10789919" y="3963924"/>
            <a:ext cx="203545" cy="203545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7882127" y="4206240"/>
            <a:ext cx="203545" cy="20354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8124444" y="4206240"/>
            <a:ext cx="203545" cy="20354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8609076" y="4206240"/>
            <a:ext cx="203545" cy="20354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8851392" y="4206240"/>
            <a:ext cx="203545" cy="20354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9820655" y="4206240"/>
            <a:ext cx="203545" cy="203545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10305288" y="4206240"/>
            <a:ext cx="203545" cy="203545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10547604" y="4206240"/>
            <a:ext cx="203545" cy="203545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11032236" y="4206240"/>
            <a:ext cx="203545" cy="203545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9093708" y="4448556"/>
            <a:ext cx="203545" cy="20354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9578340" y="4448556"/>
            <a:ext cx="203545" cy="203545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10062972" y="4448556"/>
            <a:ext cx="203545" cy="203545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10305288" y="4448556"/>
            <a:ext cx="203545" cy="203545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10789919" y="4448556"/>
            <a:ext cx="203545" cy="203545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11032236" y="4448556"/>
            <a:ext cx="203545" cy="203545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7882127" y="4690872"/>
            <a:ext cx="203545" cy="20354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8124444" y="4690872"/>
            <a:ext cx="203545" cy="20354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8366759" y="4690872"/>
            <a:ext cx="203545" cy="20354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8609076" y="4690872"/>
            <a:ext cx="203545" cy="20354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8851392" y="4690872"/>
            <a:ext cx="203545" cy="20354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9336024" y="4690872"/>
            <a:ext cx="203545" cy="20354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9820655" y="4690872"/>
            <a:ext cx="203545" cy="203545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10062972" y="4690872"/>
            <a:ext cx="203545" cy="203545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10547604" y="4690872"/>
            <a:ext cx="203545" cy="203545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11032236" y="4690872"/>
            <a:ext cx="203545" cy="203545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7882127" y="4933188"/>
            <a:ext cx="203545" cy="20354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8851392" y="4933188"/>
            <a:ext cx="203545" cy="20354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9336024" y="4933188"/>
            <a:ext cx="203545" cy="20354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9578340" y="4933188"/>
            <a:ext cx="203545" cy="203545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10305288" y="4933188"/>
            <a:ext cx="203545" cy="203545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10547604" y="4933188"/>
            <a:ext cx="203545" cy="203545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10789919" y="4933188"/>
            <a:ext cx="203545" cy="203545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868680" y="1965960"/>
            <a:ext cx="65836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0" b="1">
                <a:solidFill>
                  <a:srgbClr val="FFFFFF"/>
                </a:solidFill>
                <a:latin typeface="Cambria"/>
              </a:rPr>
              <a:t>PERIMITY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868680" y="3035808"/>
            <a:ext cx="658368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300" b="0">
                <a:solidFill>
                  <a:srgbClr val="EDE9FE"/>
                </a:solidFill>
                <a:latin typeface="Calibri"/>
              </a:rPr>
              <a:t>Smart Campus Access &amp;
Gate Pass Management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868680" y="4370832"/>
            <a:ext cx="6583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A78BFA"/>
                </a:solidFill>
                <a:latin typeface="Calibri"/>
              </a:rPr>
              <a:t>Digital gate passes, verified in seconds.</a:t>
            </a:r>
          </a:p>
        </p:txBody>
      </p:sp>
      <p:sp>
        <p:nvSpPr>
          <p:cNvPr id="119" name="Rounded Rectangle 118"/>
          <p:cNvSpPr/>
          <p:nvPr/>
        </p:nvSpPr>
        <p:spPr>
          <a:xfrm>
            <a:off x="868680" y="5440680"/>
            <a:ext cx="7406640" cy="960120"/>
          </a:xfrm>
          <a:prstGeom prst="roundRect">
            <a:avLst>
              <a:gd name="adj" fmla="val 10000"/>
            </a:avLst>
          </a:prstGeom>
          <a:solidFill>
            <a:srgbClr val="3B16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1234440" y="5632704"/>
            <a:ext cx="67665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>
                <a:solidFill>
                  <a:srgbClr val="FFFFFF"/>
                </a:solidFill>
                <a:latin typeface="Calibri"/>
              </a:rPr>
              <a:t>Sanjay Verma  ·  Palash Shende  ·  Omkar Velonde  ·  Mukul Sharma  ·  Tushar Shinde</a:t>
            </a:r>
          </a:p>
          <a:p>
            <a:pPr algn="l">
              <a:spcBef>
                <a:spcPts val="600"/>
              </a:spcBef>
            </a:pPr>
            <a:r>
              <a:rPr sz="1100" b="0">
                <a:solidFill>
                  <a:srgbClr val="C4B5FD"/>
                </a:solidFill>
                <a:latin typeface="Calibri"/>
              </a:rPr>
              <a:t>Team lead: Sanjay Verma      C-DAC  ·  Final Evaluation, August 2026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12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12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12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120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800" b="1">
                <a:solidFill>
                  <a:srgbClr val="2E1065"/>
                </a:solidFill>
                <a:latin typeface="Cambria"/>
              </a:rPr>
              <a:t>A gate pass is still a piece of paper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98448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6B7280"/>
                </a:solidFill>
                <a:latin typeface="Calibri"/>
              </a:rPr>
              <a:t>Campus entry runs on handwriting and trust.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093976"/>
            <a:ext cx="685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EDE9FE"/>
                </a:solidFill>
                <a:latin typeface="Cambria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81328" y="2148840"/>
            <a:ext cx="49377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1E1B4B"/>
                </a:solidFill>
                <a:latin typeface="Calibri"/>
              </a:rPr>
              <a:t>It cannot be verified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81328" y="2478024"/>
            <a:ext cx="49377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6B7280"/>
                </a:solidFill>
                <a:latin typeface="Calibri"/>
              </a:rPr>
              <a:t>A paper pass can be copied, lent or forged, and nobody at the gate can tell.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118104"/>
            <a:ext cx="685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EDE9FE"/>
                </a:solidFill>
                <a:latin typeface="Cambria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81328" y="3172968"/>
            <a:ext cx="49377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1E1B4B"/>
                </a:solidFill>
                <a:latin typeface="Calibri"/>
              </a:rPr>
              <a:t>Approval is a phone call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" y="3502152"/>
            <a:ext cx="49377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6B7280"/>
                </a:solidFill>
                <a:latin typeface="Calibri"/>
              </a:rPr>
              <a:t>A visitor arrives, a guard rings a department, someone vouches, a name goes in a register.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142232"/>
            <a:ext cx="685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EDE9FE"/>
                </a:solidFill>
                <a:latin typeface="Cambria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81328" y="4197096"/>
            <a:ext cx="49377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1E1B4B"/>
                </a:solidFill>
                <a:latin typeface="Calibri"/>
              </a:rPr>
              <a:t>Nothing is searchable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81328" y="4526280"/>
            <a:ext cx="49377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6B7280"/>
                </a:solidFill>
                <a:latin typeface="Calibri"/>
              </a:rPr>
              <a:t>Who was on campus last Tuesday at three? The answer is in a book, if it was written down.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166360"/>
            <a:ext cx="685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EDE9FE"/>
                </a:solidFill>
                <a:latin typeface="Cambria"/>
              </a:rP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1328" y="5221224"/>
            <a:ext cx="49377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1E1B4B"/>
                </a:solidFill>
                <a:latin typeface="Calibri"/>
              </a:rPr>
              <a:t>Onboarding is manual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81328" y="5550408"/>
            <a:ext cx="49377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6B7280"/>
                </a:solidFill>
                <a:latin typeface="Calibri"/>
              </a:rPr>
              <a:t>A new cohort means typing hundreds of forms by hand, one account at a time.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03720" y="2148840"/>
            <a:ext cx="4434840" cy="3794760"/>
          </a:xfrm>
          <a:prstGeom prst="roundRect">
            <a:avLst>
              <a:gd name="adj" fmla="val 5000"/>
            </a:avLst>
          </a:prstGeom>
          <a:solidFill>
            <a:srgbClr val="2E10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452360" y="2697480"/>
            <a:ext cx="502920" cy="5029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52360" y="2944368"/>
            <a:ext cx="3337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A78BFA"/>
                </a:solidFill>
                <a:latin typeface="Calibri"/>
              </a:rPr>
              <a:t>Every one of these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52360" y="3346704"/>
            <a:ext cx="347472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FFFFFF"/>
                </a:solidFill>
                <a:latin typeface="Cambria"/>
              </a:rPr>
              <a:t>is a checking
problem, not a
paper problem.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52360" y="5074920"/>
            <a:ext cx="33375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C4B5FD"/>
                </a:solidFill>
                <a:latin typeface="Calibri"/>
              </a:rPr>
              <a:t>Digitising the form changes nothing.
The gate still cannot verify anyone.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12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12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12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120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120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12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120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120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120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120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120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120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120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120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120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120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120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800" b="1">
                <a:solidFill>
                  <a:srgbClr val="2E1065"/>
                </a:solidFill>
                <a:latin typeface="Cambria"/>
              </a:rPr>
              <a:t>One system, four people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98448"/>
            <a:ext cx="8686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6B7280"/>
                </a:solidFill>
                <a:latin typeface="Calibri"/>
              </a:rPr>
              <a:t>An encrypted QR that a guard can trust in under a second.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965960"/>
            <a:ext cx="5166360" cy="1572768"/>
          </a:xfrm>
          <a:prstGeom prst="roundRect">
            <a:avLst>
              <a:gd name="adj" fmla="val 6000"/>
            </a:avLst>
          </a:prstGeom>
          <a:solidFill>
            <a:srgbClr val="F7F5FF"/>
          </a:solidFill>
          <a:ln w="12700">
            <a:solidFill>
              <a:srgbClr val="EDE9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70432" y="2404872"/>
            <a:ext cx="402336" cy="402336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303020" y="2482596"/>
            <a:ext cx="137160" cy="13716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252728" y="2638044"/>
            <a:ext cx="237744" cy="13258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47088" y="2331720"/>
            <a:ext cx="3794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2E1065"/>
                </a:solidFill>
                <a:latin typeface="Calibri"/>
              </a:rPr>
              <a:t>Student &amp; Faculty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47088" y="2715768"/>
            <a:ext cx="37947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6B7280"/>
                </a:solidFill>
                <a:latin typeface="Calibri"/>
              </a:rPr>
              <a:t>Verified profile, photo on file, a standing pass on their phone.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965960"/>
            <a:ext cx="5166360" cy="1572768"/>
          </a:xfrm>
          <a:prstGeom prst="roundRect">
            <a:avLst>
              <a:gd name="adj" fmla="val 6000"/>
            </a:avLst>
          </a:prstGeom>
          <a:solidFill>
            <a:srgbClr val="F7F5FF"/>
          </a:solidFill>
          <a:ln w="12700">
            <a:solidFill>
              <a:srgbClr val="EDE9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519672" y="2404872"/>
            <a:ext cx="402336" cy="402336"/>
          </a:xfrm>
          <a:prstGeom prst="ellipse">
            <a:avLst/>
          </a:prstGeom>
          <a:solidFill>
            <a:srgbClr val="4C1D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629400" y="2468879"/>
            <a:ext cx="182880" cy="2743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752844" y="2587751"/>
            <a:ext cx="45720" cy="4572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96328" y="2331720"/>
            <a:ext cx="3794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2E1065"/>
                </a:solidFill>
                <a:latin typeface="Calibri"/>
              </a:rPr>
              <a:t>Visitor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96328" y="2715768"/>
            <a:ext cx="37947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6B7280"/>
                </a:solidFill>
                <a:latin typeface="Calibri"/>
              </a:rPr>
              <a:t>Applies online, faculty approves, pass arrives by email before they travel.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3703320"/>
            <a:ext cx="5166360" cy="1572768"/>
          </a:xfrm>
          <a:prstGeom prst="roundRect">
            <a:avLst>
              <a:gd name="adj" fmla="val 6000"/>
            </a:avLst>
          </a:prstGeom>
          <a:solidFill>
            <a:srgbClr val="F7F5FF"/>
          </a:solidFill>
          <a:ln w="12700">
            <a:solidFill>
              <a:srgbClr val="EDE9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170432" y="4142231"/>
            <a:ext cx="402336" cy="402336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261872" y="4224528"/>
            <a:ext cx="82296" cy="822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399032" y="4224528"/>
            <a:ext cx="82296" cy="822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261872" y="4361688"/>
            <a:ext cx="82296" cy="822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399032" y="4361688"/>
            <a:ext cx="82296" cy="822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847088" y="4069080"/>
            <a:ext cx="3794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2E1065"/>
                </a:solidFill>
                <a:latin typeface="Calibri"/>
              </a:rPr>
              <a:t>Guard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47088" y="4453128"/>
            <a:ext cx="37947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6B7280"/>
                </a:solidFill>
                <a:latin typeface="Calibri"/>
              </a:rPr>
              <a:t>Scans at the gate. One-second verdict, with the holder's photo to check the face.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72200" y="3703320"/>
            <a:ext cx="5166360" cy="1572768"/>
          </a:xfrm>
          <a:prstGeom prst="roundRect">
            <a:avLst>
              <a:gd name="adj" fmla="val 6000"/>
            </a:avLst>
          </a:prstGeom>
          <a:solidFill>
            <a:srgbClr val="F7F5FF"/>
          </a:solidFill>
          <a:ln w="12700">
            <a:solidFill>
              <a:srgbClr val="EDE9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519672" y="4142231"/>
            <a:ext cx="402336" cy="402336"/>
          </a:xfrm>
          <a:prstGeom prst="ellipse">
            <a:avLst/>
          </a:prstGeom>
          <a:solidFill>
            <a:srgbClr val="5921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601968" y="4224528"/>
            <a:ext cx="237744" cy="457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601968" y="4320540"/>
            <a:ext cx="237744" cy="457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601968" y="4416552"/>
            <a:ext cx="237744" cy="457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196328" y="4069080"/>
            <a:ext cx="3794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2E1065"/>
                </a:solidFill>
                <a:latin typeface="Calibri"/>
              </a:rPr>
              <a:t>Administration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96328" y="4453128"/>
            <a:ext cx="37947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6B7280"/>
                </a:solidFill>
                <a:latin typeface="Calibri"/>
              </a:rPr>
              <a:t>Every scan recorded and searchable. Entry-only by design - no exit scan to forget.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22960" y="5440680"/>
            <a:ext cx="10515600" cy="1051560"/>
          </a:xfrm>
          <a:prstGeom prst="roundRect">
            <a:avLst>
              <a:gd name="adj" fmla="val 9000"/>
            </a:avLst>
          </a:prstGeom>
          <a:solidFill>
            <a:srgbClr val="2E10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325880" y="5687568"/>
            <a:ext cx="50292" cy="5669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554480" y="5669280"/>
            <a:ext cx="93268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FDE68A"/>
                </a:solidFill>
                <a:latin typeface="Calibri"/>
              </a:rPr>
              <a:t>A whole cohort, from one upload.</a:t>
            </a:r>
          </a:p>
          <a:p>
            <a:pPr algn="l">
              <a:lnSpc>
                <a:spcPct val="115000"/>
              </a:lnSpc>
              <a:spcBef>
                <a:spcPts val="500"/>
              </a:spcBef>
            </a:pPr>
            <a:r>
              <a:rPr sz="1250" b="0">
                <a:solidFill>
                  <a:srgbClr val="C4B5FD"/>
                </a:solidFill>
                <a:latin typeface="Calibri"/>
              </a:rPr>
              <a:t>Students fill in a form. Faculty upload the responses: accounts created, details verified, photos pulled, passes issued and emails sent.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12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12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12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120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120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12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120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120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120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120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120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120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120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120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120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800" b="1">
                <a:solidFill>
                  <a:srgbClr val="2E1065"/>
                </a:solidFill>
                <a:latin typeface="Cambria"/>
              </a:rPr>
              <a:t>Six services, one gate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98448"/>
            <a:ext cx="9601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6B7280"/>
                </a:solidFill>
                <a:latin typeface="Calibri"/>
              </a:rPr>
              <a:t>Spring Boot microservices, a database each, talking over REST and a message queue.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965960"/>
            <a:ext cx="1636776" cy="1645920"/>
          </a:xfrm>
          <a:prstGeom prst="roundRect">
            <a:avLst>
              <a:gd name="adj" fmla="val 8000"/>
            </a:avLst>
          </a:prstGeom>
          <a:solidFill>
            <a:srgbClr val="F7F5FF"/>
          </a:solidFill>
          <a:ln w="12700">
            <a:solidFill>
              <a:srgbClr val="EDE9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05840" y="2212848"/>
            <a:ext cx="182880" cy="182880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523744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4C1D95"/>
                </a:solidFill>
                <a:latin typeface="Calibri"/>
              </a:rPr>
              <a:t>Auth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871216"/>
            <a:ext cx="132588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6B7280"/>
                </a:solidFill>
                <a:latin typeface="Calibri"/>
              </a:rPr>
              <a:t>Accounts,
JWT, OTP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87752" y="1965960"/>
            <a:ext cx="1636776" cy="1645920"/>
          </a:xfrm>
          <a:prstGeom prst="roundRect">
            <a:avLst>
              <a:gd name="adj" fmla="val 8000"/>
            </a:avLst>
          </a:prstGeom>
          <a:solidFill>
            <a:srgbClr val="F7F5FF"/>
          </a:solidFill>
          <a:ln w="12700">
            <a:solidFill>
              <a:srgbClr val="EDE9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770632" y="2212848"/>
            <a:ext cx="182880" cy="182880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70632" y="2523744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4C1D95"/>
                </a:solidFill>
                <a:latin typeface="Calibri"/>
              </a:rPr>
              <a:t>User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70632" y="2871216"/>
            <a:ext cx="132588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6B7280"/>
                </a:solidFill>
                <a:latin typeface="Calibri"/>
              </a:rPr>
              <a:t>Profiles,
verification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52544" y="1965960"/>
            <a:ext cx="1636776" cy="1645920"/>
          </a:xfrm>
          <a:prstGeom prst="roundRect">
            <a:avLst>
              <a:gd name="adj" fmla="val 8000"/>
            </a:avLst>
          </a:prstGeom>
          <a:solidFill>
            <a:srgbClr val="F7F5FF"/>
          </a:solidFill>
          <a:ln w="12700">
            <a:solidFill>
              <a:srgbClr val="EDE9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35424" y="2212848"/>
            <a:ext cx="182880" cy="182880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35424" y="2523744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4C1D95"/>
                </a:solidFill>
                <a:latin typeface="Calibri"/>
              </a:rPr>
              <a:t>Gate Pass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35424" y="2871216"/>
            <a:ext cx="132588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6B7280"/>
                </a:solidFill>
                <a:latin typeface="Calibri"/>
              </a:rPr>
              <a:t>Passes,
visitors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17336" y="1965960"/>
            <a:ext cx="1636776" cy="1645920"/>
          </a:xfrm>
          <a:prstGeom prst="roundRect">
            <a:avLst>
              <a:gd name="adj" fmla="val 8000"/>
            </a:avLst>
          </a:prstGeom>
          <a:solidFill>
            <a:srgbClr val="F7F5FF"/>
          </a:solidFill>
          <a:ln w="12700">
            <a:solidFill>
              <a:srgbClr val="EDE9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00216" y="2212848"/>
            <a:ext cx="182880" cy="182880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0216" y="2523744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4C1D95"/>
                </a:solidFill>
                <a:latin typeface="Calibri"/>
              </a:rPr>
              <a:t>QR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0216" y="2871216"/>
            <a:ext cx="132588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6B7280"/>
                </a:solidFill>
                <a:latin typeface="Calibri"/>
              </a:rPr>
              <a:t>AES-256
tokens, PDFs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882127" y="1965960"/>
            <a:ext cx="1636776" cy="1645920"/>
          </a:xfrm>
          <a:prstGeom prst="roundRect">
            <a:avLst>
              <a:gd name="adj" fmla="val 8000"/>
            </a:avLst>
          </a:prstGeom>
          <a:solidFill>
            <a:srgbClr val="F7F5FF"/>
          </a:solidFill>
          <a:ln w="12700">
            <a:solidFill>
              <a:srgbClr val="EDE9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65007" y="2212848"/>
            <a:ext cx="182880" cy="182880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65007" y="2523744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4C1D95"/>
                </a:solidFill>
                <a:latin typeface="Calibri"/>
              </a:rPr>
              <a:t>Campus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65007" y="2871216"/>
            <a:ext cx="132588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6B7280"/>
                </a:solidFill>
                <a:latin typeface="Calibri"/>
              </a:rPr>
              <a:t>Gates,
policy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646919" y="1965960"/>
            <a:ext cx="1636776" cy="1645920"/>
          </a:xfrm>
          <a:prstGeom prst="roundRect">
            <a:avLst>
              <a:gd name="adj" fmla="val 8000"/>
            </a:avLst>
          </a:prstGeom>
          <a:solidFill>
            <a:srgbClr val="F7F5FF"/>
          </a:solidFill>
          <a:ln w="12700">
            <a:solidFill>
              <a:srgbClr val="EDE9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829799" y="2212848"/>
            <a:ext cx="182880" cy="182880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829799" y="2523744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4C1D95"/>
                </a:solidFill>
                <a:latin typeface="Calibri"/>
              </a:rPr>
              <a:t>Guard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29799" y="2871216"/>
            <a:ext cx="132588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6B7280"/>
                </a:solidFill>
                <a:latin typeface="Calibri"/>
              </a:rPr>
              <a:t>Scanning,
entry log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2960" y="3858768"/>
            <a:ext cx="10515600" cy="640080"/>
          </a:xfrm>
          <a:prstGeom prst="roundRect">
            <a:avLst>
              <a:gd name="adj" fmla="val 14000"/>
            </a:avLst>
          </a:prstGeom>
          <a:solidFill>
            <a:srgbClr val="2E10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234440" y="4059936"/>
            <a:ext cx="9692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>
                <a:solidFill>
                  <a:srgbClr val="FFFFFF"/>
                </a:solidFill>
                <a:latin typeface="Calibri"/>
              </a:rPr>
              <a:t>PostgreSQL  ·  MongoDB  ·  RabbitMQ  ·  Redis  ·  Eureka  ·  Docker  ·  React + TypeScript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22960" y="4846320"/>
            <a:ext cx="201168" cy="5029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2960" y="5047488"/>
            <a:ext cx="3246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2E1065"/>
                </a:solidFill>
                <a:latin typeface="Calibri"/>
              </a:rPr>
              <a:t>Entry only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" y="5413248"/>
            <a:ext cx="32461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6B7280"/>
                </a:solidFill>
                <a:latin typeface="Calibri"/>
              </a:rPr>
              <a:t>The system records arrivals. No exit scan means no half-open record when someone forgets.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453128" y="4846320"/>
            <a:ext cx="201168" cy="5029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453128" y="5047488"/>
            <a:ext cx="3246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2E1065"/>
                </a:solidFill>
                <a:latin typeface="Calibri"/>
              </a:rPr>
              <a:t>A pass is a token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53128" y="5413248"/>
            <a:ext cx="32461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6B7280"/>
                </a:solidFill>
                <a:latin typeface="Calibri"/>
              </a:rPr>
              <a:t>AES-256 encrypted, tied to one holder. A screenshot is useless once the pass is revoked.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083296" y="4846320"/>
            <a:ext cx="201168" cy="5029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083296" y="5047488"/>
            <a:ext cx="3246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2E1065"/>
                </a:solidFill>
                <a:latin typeface="Calibri"/>
              </a:rPr>
              <a:t>Database per service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083296" y="5413248"/>
            <a:ext cx="32461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6B7280"/>
                </a:solidFill>
                <a:latin typeface="Calibri"/>
              </a:rPr>
              <a:t>No service reads another's tables. They ask over REST, so one can fail without taking the gate down.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12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12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12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120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120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12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120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120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120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120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120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120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120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120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120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120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120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120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120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120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120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120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120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120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120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120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120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E10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561320" y="-2423160"/>
            <a:ext cx="4114800" cy="4114800"/>
          </a:xfrm>
          <a:prstGeom prst="ellipse">
            <a:avLst/>
          </a:prstGeom>
          <a:solidFill>
            <a:srgbClr val="3B16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66928"/>
            <a:ext cx="10058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mbria"/>
              </a:rPr>
              <a:t>Working today, and what comes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72768"/>
            <a:ext cx="4937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59E0B"/>
                </a:solidFill>
                <a:latin typeface="Calibri"/>
              </a:rPr>
              <a:t>WORKING TODAY</a:t>
            </a:r>
          </a:p>
        </p:txBody>
      </p:sp>
      <p:sp>
        <p:nvSpPr>
          <p:cNvPr id="6" name="Oval 5"/>
          <p:cNvSpPr/>
          <p:nvPr/>
        </p:nvSpPr>
        <p:spPr>
          <a:xfrm>
            <a:off x="850392" y="2130551"/>
            <a:ext cx="137160" cy="13716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2084831"/>
            <a:ext cx="4480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FFFFFF"/>
                </a:solidFill>
                <a:latin typeface="Calibri"/>
              </a:rPr>
              <a:t>Bulk onboarding end to end: form to account to pass to email</a:t>
            </a:r>
          </a:p>
        </p:txBody>
      </p:sp>
      <p:sp>
        <p:nvSpPr>
          <p:cNvPr id="8" name="Oval 7"/>
          <p:cNvSpPr/>
          <p:nvPr/>
        </p:nvSpPr>
        <p:spPr>
          <a:xfrm>
            <a:off x="850392" y="2843783"/>
            <a:ext cx="137160" cy="13716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2798063"/>
            <a:ext cx="4480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FFFFFF"/>
                </a:solidFill>
                <a:latin typeface="Calibri"/>
              </a:rPr>
              <a:t>Encrypted QR passes, issued and delivered as PDF</a:t>
            </a:r>
          </a:p>
        </p:txBody>
      </p:sp>
      <p:sp>
        <p:nvSpPr>
          <p:cNvPr id="10" name="Oval 9"/>
          <p:cNvSpPr/>
          <p:nvPr/>
        </p:nvSpPr>
        <p:spPr>
          <a:xfrm>
            <a:off x="850392" y="3557015"/>
            <a:ext cx="137160" cy="13716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3511296"/>
            <a:ext cx="4480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FFFFFF"/>
                </a:solidFill>
                <a:latin typeface="Calibri"/>
              </a:rPr>
              <a:t>Faculty approval for visitors, with email at every step</a:t>
            </a:r>
          </a:p>
        </p:txBody>
      </p:sp>
      <p:sp>
        <p:nvSpPr>
          <p:cNvPr id="12" name="Oval 11"/>
          <p:cNvSpPr/>
          <p:nvPr/>
        </p:nvSpPr>
        <p:spPr>
          <a:xfrm>
            <a:off x="850392" y="4270248"/>
            <a:ext cx="137160" cy="13716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8720" y="4224528"/>
            <a:ext cx="4480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FFFFFF"/>
                </a:solidFill>
                <a:latin typeface="Calibri"/>
              </a:rPr>
              <a:t>Guard scanning with the holder's photo on screen</a:t>
            </a:r>
          </a:p>
        </p:txBody>
      </p:sp>
      <p:sp>
        <p:nvSpPr>
          <p:cNvPr id="14" name="Oval 13"/>
          <p:cNvSpPr/>
          <p:nvPr/>
        </p:nvSpPr>
        <p:spPr>
          <a:xfrm>
            <a:off x="850392" y="4983480"/>
            <a:ext cx="137160" cy="13716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88720" y="4937760"/>
            <a:ext cx="4480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FFFFFF"/>
                </a:solidFill>
                <a:latin typeface="Calibri"/>
              </a:rPr>
              <a:t>Entry log, searchable and paged, for every scan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1572768"/>
            <a:ext cx="4937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A78BFA"/>
                </a:solidFill>
                <a:latin typeface="Calibri"/>
              </a:rPr>
              <a:t>WHAT COMES NEXT</a:t>
            </a:r>
          </a:p>
        </p:txBody>
      </p:sp>
      <p:sp>
        <p:nvSpPr>
          <p:cNvPr id="17" name="Oval 16"/>
          <p:cNvSpPr/>
          <p:nvPr/>
        </p:nvSpPr>
        <p:spPr>
          <a:xfrm>
            <a:off x="6428232" y="2130551"/>
            <a:ext cx="137160" cy="137160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66560" y="2084831"/>
            <a:ext cx="4480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EDE9FE"/>
                </a:solidFill>
                <a:latin typeface="Calibri"/>
              </a:rPr>
              <a:t>Offline scanning, for when the gate loses network</a:t>
            </a:r>
          </a:p>
        </p:txBody>
      </p:sp>
      <p:sp>
        <p:nvSpPr>
          <p:cNvPr id="19" name="Oval 18"/>
          <p:cNvSpPr/>
          <p:nvPr/>
        </p:nvSpPr>
        <p:spPr>
          <a:xfrm>
            <a:off x="6428232" y="2843783"/>
            <a:ext cx="137160" cy="137160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66560" y="2798063"/>
            <a:ext cx="4480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EDE9FE"/>
                </a:solidFill>
                <a:latin typeface="Calibri"/>
              </a:rPr>
              <a:t>Face match against the stored photo at the moment of entry</a:t>
            </a:r>
          </a:p>
        </p:txBody>
      </p:sp>
      <p:sp>
        <p:nvSpPr>
          <p:cNvPr id="21" name="Oval 20"/>
          <p:cNvSpPr/>
          <p:nvPr/>
        </p:nvSpPr>
        <p:spPr>
          <a:xfrm>
            <a:off x="6428232" y="3557015"/>
            <a:ext cx="137160" cy="137160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66560" y="3511296"/>
            <a:ext cx="4480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EDE9FE"/>
                </a:solidFill>
                <a:latin typeface="Calibri"/>
              </a:rPr>
              <a:t>Multi-campus: already in the data model, not yet in the UI</a:t>
            </a:r>
          </a:p>
        </p:txBody>
      </p:sp>
      <p:sp>
        <p:nvSpPr>
          <p:cNvPr id="23" name="Oval 22"/>
          <p:cNvSpPr/>
          <p:nvPr/>
        </p:nvSpPr>
        <p:spPr>
          <a:xfrm>
            <a:off x="6428232" y="4270248"/>
            <a:ext cx="137160" cy="137160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66560" y="4224528"/>
            <a:ext cx="4480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EDE9FE"/>
                </a:solidFill>
                <a:latin typeface="Calibri"/>
              </a:rPr>
              <a:t>A native guard app instead of a browser</a:t>
            </a:r>
          </a:p>
        </p:txBody>
      </p:sp>
      <p:sp>
        <p:nvSpPr>
          <p:cNvPr id="25" name="Oval 24"/>
          <p:cNvSpPr/>
          <p:nvPr/>
        </p:nvSpPr>
        <p:spPr>
          <a:xfrm>
            <a:off x="6428232" y="4983480"/>
            <a:ext cx="137160" cy="137160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66560" y="4937760"/>
            <a:ext cx="4480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EDE9FE"/>
                </a:solidFill>
                <a:latin typeface="Calibri"/>
              </a:rPr>
              <a:t>Single sign-on with the college identity provider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6053328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C4B5FD"/>
                </a:solidFill>
                <a:latin typeface="Calibri"/>
              </a:rPr>
              <a:t>Built to work at any campus - no institution, department or email domain is written into the code.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12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12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12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120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120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12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120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120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120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120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120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120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120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